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1" r:id="rId5"/>
    <p:sldId id="282" r:id="rId6"/>
    <p:sldId id="283" r:id="rId7"/>
    <p:sldId id="284" r:id="rId8"/>
    <p:sldId id="286" r:id="rId9"/>
    <p:sldId id="287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A9EF2F-76ED-266B-5B06-F76EC2F06EF5}" v="2" dt="2025-12-04T12:57:40.005"/>
    <p1510:client id="{551FF02D-8F95-EBE6-09E6-464B434DCFD1}" v="623" dt="2025-12-03T19:46:29.762"/>
    <p1510:client id="{6077CB76-86B0-0148-6500-1879E5FD3CF0}" v="59" dt="2025-12-04T17:33:26.065"/>
    <p1510:client id="{FD5AFD72-16D1-1E8F-E90F-A9441F95E6A3}" v="468" dt="2025-12-04T16:51:14.260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flpoly-my.sharepoint.com/personal/mmcgary8568_floridapoly_edu/Documents/FPGA%20Presentation_Pi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CAE-4BDC-83D6-E2BA8D1974C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AE-4BDC-83D6-E2BA8D1974CE}"/>
              </c:ext>
            </c:extLst>
          </c:dPt>
          <c:cat>
            <c:strRef>
              <c:f>Sheet1!$A$2:$A$3</c:f>
              <c:strCache>
                <c:ptCount val="2"/>
                <c:pt idx="0">
                  <c:v>Matthew</c:v>
                </c:pt>
                <c:pt idx="1">
                  <c:v>Sidky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54-495F-8DB2-A2C6E8DDE0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/>
              <a:t>FPGA Alarm Project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ADFF4A-E335-B03A-DA6D-67DF5C0D39BB}"/>
              </a:ext>
            </a:extLst>
          </p:cNvPr>
          <p:cNvSpPr txBox="1"/>
          <p:nvPr/>
        </p:nvSpPr>
        <p:spPr>
          <a:xfrm>
            <a:off x="480281" y="5728606"/>
            <a:ext cx="8823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By: Matthew McGary and </a:t>
            </a:r>
            <a:r>
              <a:rPr lang="es-ES">
                <a:solidFill>
                  <a:schemeClr val="bg1"/>
                </a:solidFill>
              </a:rPr>
              <a:t>Abd El Rahman </a:t>
            </a:r>
            <a:r>
              <a:rPr lang="es-ES" err="1">
                <a:solidFill>
                  <a:schemeClr val="bg1"/>
                </a:solidFill>
              </a:rPr>
              <a:t>Sidky</a:t>
            </a:r>
            <a:r>
              <a:rPr lang="en-US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BADA8-6B96-DE22-EEC1-F19D5D14F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151"/>
            <a:ext cx="10515600" cy="841908"/>
          </a:xfrm>
        </p:spPr>
        <p:txBody>
          <a:bodyPr/>
          <a:lstStyle/>
          <a:p>
            <a:r>
              <a:rPr lang="en-US"/>
              <a:t>Alarm Clock 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8150A-A766-5F80-8BBA-E2F648BA1D4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199" y="2024781"/>
            <a:ext cx="5242970" cy="325162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EBEE6-B5E2-BDF5-5102-FF695DC7906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0934" y="1355605"/>
            <a:ext cx="9826411" cy="375618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600">
                <a:ea typeface="Calibri"/>
                <a:cs typeface="Calibri"/>
              </a:rPr>
              <a:t>Key features: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sz="3600">
                <a:ea typeface="Calibri"/>
                <a:cs typeface="Calibri"/>
              </a:rPr>
              <a:t>Real Time Clock Display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sz="3600">
                <a:ea typeface="Calibri"/>
                <a:cs typeface="Calibri"/>
              </a:rPr>
              <a:t>Current time adjustment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sz="3600">
                <a:ea typeface="Calibri"/>
                <a:cs typeface="Calibri"/>
              </a:rPr>
              <a:t>Visual alarm indication 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sz="3600">
                <a:ea typeface="Calibri"/>
                <a:cs typeface="Calibri"/>
              </a:rPr>
              <a:t>Alarm Auto-shutoff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sz="3600">
                <a:ea typeface="Calibri"/>
                <a:cs typeface="Calibri"/>
              </a:rPr>
              <a:t>Alarm time adjust mode </a:t>
            </a: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 panose="05000000000000000000" pitchFamily="2" charset="2"/>
              <a:buChar char="•"/>
            </a:pP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5548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B843F-00D1-D986-7D61-CFC9B3347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85344"/>
            <a:ext cx="6241651" cy="1710354"/>
          </a:xfrm>
        </p:spPr>
        <p:txBody>
          <a:bodyPr/>
          <a:lstStyle/>
          <a:p>
            <a:r>
              <a:rPr lang="en-US">
                <a:ea typeface="Calibri Light"/>
                <a:cs typeface="Calibri Light"/>
              </a:rPr>
              <a:t>Critical Variables</a:t>
            </a:r>
            <a:endParaRPr lang="en-US"/>
          </a:p>
        </p:txBody>
      </p:sp>
      <p:pic>
        <p:nvPicPr>
          <p:cNvPr id="5" name="Picture Placeholder 4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BFC4F865-AEE5-AAF1-FAB9-F5EADC7D3D3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8318" r="8318"/>
          <a:stretch/>
        </p:blipFill>
        <p:spPr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2A4DD-2439-1237-399F-23A532FD9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0252" y="1791730"/>
            <a:ext cx="6241650" cy="39689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spcAft>
                <a:spcPts val="0"/>
              </a:spcAft>
              <a:buFont typeface="Arial,Sans-Serif" panose="05000000000000000000" pitchFamily="2" charset="2"/>
              <a:buChar char="•"/>
            </a:pPr>
            <a:r>
              <a:rPr lang="en-US" sz="3200" err="1">
                <a:ea typeface="Calibri"/>
                <a:cs typeface="Calibri"/>
              </a:rPr>
              <a:t>En_D</a:t>
            </a:r>
            <a:r>
              <a:rPr lang="en-US" sz="3200">
                <a:ea typeface="Calibri"/>
                <a:cs typeface="Calibri"/>
              </a:rPr>
              <a:t> (27byt)</a:t>
            </a:r>
          </a:p>
          <a:p>
            <a:pPr marL="285750" indent="-285750">
              <a:spcAft>
                <a:spcPts val="0"/>
              </a:spcAft>
              <a:buFont typeface="Arial,Sans-Serif" panose="05000000000000000000" pitchFamily="2" charset="2"/>
              <a:buChar char="•"/>
            </a:pPr>
            <a:r>
              <a:rPr lang="en-US" sz="3200" err="1">
                <a:ea typeface="Calibri"/>
                <a:cs typeface="Calibri"/>
              </a:rPr>
              <a:t>En_Q</a:t>
            </a:r>
            <a:r>
              <a:rPr lang="en-US" sz="3200">
                <a:ea typeface="Calibri"/>
                <a:cs typeface="Calibri"/>
              </a:rPr>
              <a:t> (27byt)</a:t>
            </a:r>
          </a:p>
          <a:p>
            <a:pPr marL="285750" indent="-285750">
              <a:spcAft>
                <a:spcPts val="0"/>
              </a:spcAft>
              <a:buFont typeface="Arial,Sans-Serif" panose="05000000000000000000" pitchFamily="2" charset="2"/>
              <a:buChar char="•"/>
            </a:pPr>
            <a:r>
              <a:rPr lang="en-US" sz="3200" err="1">
                <a:ea typeface="+mn-lt"/>
                <a:cs typeface="+mn-lt"/>
              </a:rPr>
              <a:t>alarm_latch</a:t>
            </a:r>
            <a:endParaRPr lang="en-US" sz="3200">
              <a:ea typeface="Calibri"/>
              <a:cs typeface="Calibri"/>
            </a:endParaRPr>
          </a:p>
          <a:p>
            <a:pPr marL="285750" indent="-285750">
              <a:spcAft>
                <a:spcPts val="0"/>
              </a:spcAft>
              <a:buFont typeface="Arial,Sans-Serif" panose="05000000000000000000" pitchFamily="2" charset="2"/>
              <a:buChar char="•"/>
            </a:pPr>
            <a:r>
              <a:rPr lang="en-US" sz="3200" err="1">
                <a:ea typeface="Calibri"/>
                <a:cs typeface="Calibri"/>
              </a:rPr>
              <a:t>Alarm_set_mode</a:t>
            </a:r>
            <a:r>
              <a:rPr lang="en-US" sz="3200">
                <a:ea typeface="Calibri"/>
                <a:cs typeface="Calibri"/>
              </a:rPr>
              <a:t> </a:t>
            </a:r>
          </a:p>
          <a:p>
            <a:pPr marL="285750" indent="-285750">
              <a:spcAft>
                <a:spcPts val="0"/>
              </a:spcAft>
              <a:buFont typeface="Arial,Sans-Serif" panose="05000000000000000000" pitchFamily="2" charset="2"/>
              <a:buChar char="•"/>
            </a:pPr>
            <a:r>
              <a:rPr lang="en-US" sz="2800" err="1">
                <a:ea typeface="Calibri"/>
                <a:cs typeface="Calibri"/>
              </a:rPr>
              <a:t>Inc_key_Q</a:t>
            </a:r>
            <a:r>
              <a:rPr lang="en-US" sz="2800">
                <a:ea typeface="Calibri"/>
                <a:cs typeface="Calibri"/>
              </a:rPr>
              <a:t> ---&gt; increase digit for adjust </a:t>
            </a:r>
          </a:p>
        </p:txBody>
      </p:sp>
    </p:spTree>
    <p:extLst>
      <p:ext uri="{BB962C8B-B14F-4D97-AF65-F5344CB8AC3E}">
        <p14:creationId xmlns:p14="http://schemas.microsoft.com/office/powerpoint/2010/main" val="3517481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2331-40B8-DC53-38B7-8191B2D2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</p:spPr>
        <p:txBody>
          <a:bodyPr anchor="ctr">
            <a:normAutofit/>
          </a:bodyPr>
          <a:lstStyle/>
          <a:p>
            <a:r>
              <a:rPr lang="en-US"/>
              <a:t>The Alarm</a:t>
            </a:r>
          </a:p>
        </p:txBody>
      </p:sp>
      <p:pic>
        <p:nvPicPr>
          <p:cNvPr id="5" name="Picture Placeholder 4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06B9D443-460C-C2FD-A566-58CA5CA4A9F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5480" r="1156"/>
          <a:stretch>
            <a:fillRect/>
          </a:stretch>
        </p:blipFill>
        <p:spPr>
          <a:xfrm>
            <a:off x="20" y="10"/>
            <a:ext cx="4287818" cy="6857990"/>
          </a:xfrm>
          <a:prstGeom prst="rect">
            <a:avLst/>
          </a:prstGeo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4D010EA0-FA06-9669-B6B9-5BD724201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426" y="2170981"/>
            <a:ext cx="6241650" cy="380539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Calibri"/>
                <a:cs typeface="Calibri"/>
              </a:rPr>
              <a:t>The alarm feature is designed to have a condition where it would go off at 8:00:00.</a:t>
            </a:r>
          </a:p>
          <a:p>
            <a:r>
              <a:rPr lang="en-US" sz="2400">
                <a:ea typeface="Calibri"/>
                <a:cs typeface="Calibri"/>
              </a:rPr>
              <a:t>The alarm is designed to go off for 20 seconds and then stop automatically or if the user wanted to turn the alarm off sooner, they could press key 0.</a:t>
            </a:r>
          </a:p>
          <a:p>
            <a:r>
              <a:rPr lang="en-US" sz="2400">
                <a:ea typeface="Calibri"/>
                <a:cs typeface="Calibri"/>
              </a:rPr>
              <a:t>When the alarm goes off the LEDR display will flash on and off until the 20 seconds have passed or key 0 has been pressed.</a:t>
            </a:r>
          </a:p>
          <a:p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2316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2D282-85AC-BBD2-BD80-F3489D25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937692"/>
          </a:xfrm>
        </p:spPr>
        <p:txBody>
          <a:bodyPr/>
          <a:lstStyle/>
          <a:p>
            <a:r>
              <a:rPr lang="en-US">
                <a:ea typeface="Calibri Light"/>
                <a:cs typeface="Calibri Light"/>
              </a:rPr>
              <a:t>Clock Logic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06B0FF-3A60-ADF6-6D88-37ED81CBD7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5633" y="1320290"/>
            <a:ext cx="11135550" cy="46116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assign dec0_D = (!</a:t>
            </a:r>
            <a:r>
              <a:rPr lang="en-US" sz="2400" err="1">
                <a:ea typeface="+mn-lt"/>
                <a:cs typeface="+mn-lt"/>
              </a:rPr>
              <a:t>adjust_active</a:t>
            </a:r>
            <a:r>
              <a:rPr lang="en-US" sz="2400">
                <a:ea typeface="+mn-lt"/>
                <a:cs typeface="+mn-lt"/>
              </a:rPr>
              <a:t> &amp;&amp; tick)?(dec0_Q == 9 ? 0 : dec0_Q + 1):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                ((</a:t>
            </a:r>
            <a:r>
              <a:rPr lang="en-US" sz="2400" err="1">
                <a:ea typeface="+mn-lt"/>
                <a:cs typeface="+mn-lt"/>
              </a:rPr>
              <a:t>sel_sec</a:t>
            </a:r>
            <a:r>
              <a:rPr lang="en-US" sz="2400">
                <a:ea typeface="+mn-lt"/>
                <a:cs typeface="+mn-lt"/>
              </a:rPr>
              <a:t> &amp;&amp; </a:t>
            </a:r>
            <a:r>
              <a:rPr lang="en-US" sz="2400" err="1">
                <a:ea typeface="+mn-lt"/>
                <a:cs typeface="+mn-lt"/>
              </a:rPr>
              <a:t>inc_pulse</a:t>
            </a:r>
            <a:r>
              <a:rPr lang="en-US" sz="2400">
                <a:ea typeface="+mn-lt"/>
                <a:cs typeface="+mn-lt"/>
              </a:rPr>
              <a:t> &amp;&amp; ~</a:t>
            </a:r>
            <a:r>
              <a:rPr lang="en-US" sz="2400" err="1">
                <a:ea typeface="+mn-lt"/>
                <a:cs typeface="+mn-lt"/>
              </a:rPr>
              <a:t>alarm_set_mode</a:t>
            </a:r>
            <a:r>
              <a:rPr lang="en-US" sz="2400">
                <a:ea typeface="+mn-lt"/>
                <a:cs typeface="+mn-lt"/>
              </a:rPr>
              <a:t>)? (dec0_Q == 9 ? 0 : dec0_Q + 1) :dec0_Q);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assign AlarmDec0_D = </a:t>
            </a:r>
            <a:r>
              <a:rPr lang="en-US" sz="2400" err="1">
                <a:ea typeface="+mn-lt"/>
                <a:cs typeface="+mn-lt"/>
              </a:rPr>
              <a:t>alarm_set_mode</a:t>
            </a:r>
            <a:r>
              <a:rPr lang="en-US" sz="2400">
                <a:ea typeface="+mn-lt"/>
                <a:cs typeface="+mn-lt"/>
              </a:rPr>
              <a:t> ? ((</a:t>
            </a:r>
            <a:r>
              <a:rPr lang="en-US" sz="2400" err="1">
                <a:ea typeface="+mn-lt"/>
                <a:cs typeface="+mn-lt"/>
              </a:rPr>
              <a:t>sel_sec</a:t>
            </a:r>
            <a:r>
              <a:rPr lang="en-US" sz="2400">
                <a:ea typeface="+mn-lt"/>
                <a:cs typeface="+mn-lt"/>
              </a:rPr>
              <a:t> &amp;&amp; </a:t>
            </a:r>
            <a:r>
              <a:rPr lang="en-US" sz="2400" err="1">
                <a:ea typeface="+mn-lt"/>
                <a:cs typeface="+mn-lt"/>
              </a:rPr>
              <a:t>inc_pulse</a:t>
            </a:r>
            <a:r>
              <a:rPr lang="en-US" sz="2400">
                <a:ea typeface="+mn-lt"/>
                <a:cs typeface="+mn-lt"/>
              </a:rPr>
              <a:t>)? (AlarmDec0_Q == 9 ? 0 : AlarmDec0_Q + 1) :AlarmDec0_Q) : AlarmDec0_Q;</a:t>
            </a:r>
          </a:p>
          <a:p>
            <a:r>
              <a:rPr lang="en-US" sz="2400">
                <a:ea typeface="+mn-lt"/>
                <a:cs typeface="+mn-lt"/>
              </a:rPr>
              <a:t>assign dec1_D = (!</a:t>
            </a:r>
            <a:r>
              <a:rPr lang="en-US" sz="2400" err="1">
                <a:ea typeface="+mn-lt"/>
                <a:cs typeface="+mn-lt"/>
              </a:rPr>
              <a:t>adjust_active</a:t>
            </a:r>
            <a:r>
              <a:rPr lang="en-US" sz="2400">
                <a:ea typeface="+mn-lt"/>
                <a:cs typeface="+mn-lt"/>
              </a:rPr>
              <a:t> &amp;&amp; tick &amp;&amp; (dec0_Q == 9)) ? 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            (dec1_Q == 5 ? 0 : dec1_Q + 1) : 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            ((</a:t>
            </a:r>
            <a:r>
              <a:rPr lang="en-US" sz="2400" err="1">
                <a:ea typeface="+mn-lt"/>
                <a:cs typeface="+mn-lt"/>
              </a:rPr>
              <a:t>sel_sec</a:t>
            </a:r>
            <a:r>
              <a:rPr lang="en-US" sz="2400">
                <a:ea typeface="+mn-lt"/>
                <a:cs typeface="+mn-lt"/>
              </a:rPr>
              <a:t> &amp;&amp; </a:t>
            </a:r>
            <a:r>
              <a:rPr lang="en-US" sz="2400" err="1">
                <a:ea typeface="+mn-lt"/>
                <a:cs typeface="+mn-lt"/>
              </a:rPr>
              <a:t>inc_pulse</a:t>
            </a:r>
            <a:r>
              <a:rPr lang="en-US" sz="2400">
                <a:ea typeface="+mn-lt"/>
                <a:cs typeface="+mn-lt"/>
              </a:rPr>
              <a:t> &amp;&amp; ~</a:t>
            </a:r>
            <a:r>
              <a:rPr lang="en-US" sz="2400" err="1">
                <a:ea typeface="+mn-lt"/>
                <a:cs typeface="+mn-lt"/>
              </a:rPr>
              <a:t>alarm_set_mode</a:t>
            </a:r>
            <a:r>
              <a:rPr lang="en-US" sz="2400">
                <a:ea typeface="+mn-lt"/>
                <a:cs typeface="+mn-lt"/>
              </a:rPr>
              <a:t> &amp;&amp; (dec0_Q == 9)) ? (dec1_Q == 5 ? 0 : dec1_Q + 1) :dec1_Q);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assign AlarmDec1_D = </a:t>
            </a:r>
            <a:r>
              <a:rPr lang="en-US" sz="2400" err="1">
                <a:ea typeface="+mn-lt"/>
                <a:cs typeface="+mn-lt"/>
              </a:rPr>
              <a:t>alarm_set_mode</a:t>
            </a:r>
            <a:r>
              <a:rPr lang="en-US" sz="2400">
                <a:ea typeface="+mn-lt"/>
                <a:cs typeface="+mn-lt"/>
              </a:rPr>
              <a:t> ? ((</a:t>
            </a:r>
            <a:r>
              <a:rPr lang="en-US" sz="2400" err="1">
                <a:ea typeface="+mn-lt"/>
                <a:cs typeface="+mn-lt"/>
              </a:rPr>
              <a:t>sel_sec</a:t>
            </a:r>
            <a:r>
              <a:rPr lang="en-US" sz="2400">
                <a:ea typeface="+mn-lt"/>
                <a:cs typeface="+mn-lt"/>
              </a:rPr>
              <a:t> &amp;&amp; </a:t>
            </a:r>
            <a:r>
              <a:rPr lang="en-US" sz="2400" err="1">
                <a:ea typeface="+mn-lt"/>
                <a:cs typeface="+mn-lt"/>
              </a:rPr>
              <a:t>inc_pulse</a:t>
            </a:r>
            <a:r>
              <a:rPr lang="en-US" sz="2400">
                <a:ea typeface="+mn-lt"/>
                <a:cs typeface="+mn-lt"/>
              </a:rPr>
              <a:t> &amp;&amp; (AlarmDec0_Q == 9)) ? (AlarmDec1_Q == 5 ? 0 : AlarmDec1_Q + 1) :AlarmDec1_Q) : AlarmDec1_Q;</a:t>
            </a:r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  <a:p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4586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6009-81ED-258E-B33A-004E850A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Alarm Code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E2AC8-C627-7666-5917-4576E6A074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8765" y="1708479"/>
            <a:ext cx="2696042" cy="41371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always @(posedge clock or </a:t>
            </a:r>
            <a:r>
              <a:rPr lang="en-US" err="1">
                <a:ea typeface="+mn-lt"/>
                <a:cs typeface="+mn-lt"/>
              </a:rPr>
              <a:t>posedge</a:t>
            </a:r>
            <a:r>
              <a:rPr lang="en-US">
                <a:ea typeface="+mn-lt"/>
                <a:cs typeface="+mn-lt"/>
              </a:rPr>
              <a:t> reset)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begin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if (reset) begin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</a:t>
            </a:r>
            <a:r>
              <a:rPr lang="en-US" err="1">
                <a:ea typeface="+mn-lt"/>
                <a:cs typeface="+mn-lt"/>
              </a:rPr>
              <a:t>alarm_latch</a:t>
            </a:r>
            <a:r>
              <a:rPr lang="en-US">
                <a:ea typeface="+mn-lt"/>
                <a:cs typeface="+mn-lt"/>
              </a:rPr>
              <a:t> &lt;= 0;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</a:t>
            </a:r>
            <a:r>
              <a:rPr lang="en-US" err="1">
                <a:ea typeface="+mn-lt"/>
                <a:cs typeface="+mn-lt"/>
              </a:rPr>
              <a:t>alarm_timer</a:t>
            </a:r>
            <a:r>
              <a:rPr lang="en-US">
                <a:ea typeface="+mn-lt"/>
                <a:cs typeface="+mn-lt"/>
              </a:rPr>
              <a:t> &lt;= 0;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else if (~KEY[0]) begin      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</a:t>
            </a:r>
            <a:r>
              <a:rPr lang="en-US" err="1">
                <a:ea typeface="+mn-lt"/>
                <a:cs typeface="+mn-lt"/>
              </a:rPr>
              <a:t>alarm_latch</a:t>
            </a:r>
            <a:r>
              <a:rPr lang="en-US">
                <a:ea typeface="+mn-lt"/>
                <a:cs typeface="+mn-lt"/>
              </a:rPr>
              <a:t> &lt;= 0;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</a:t>
            </a:r>
            <a:r>
              <a:rPr lang="en-US" err="1">
                <a:ea typeface="+mn-lt"/>
                <a:cs typeface="+mn-lt"/>
              </a:rPr>
              <a:t>alarm_timer</a:t>
            </a:r>
            <a:r>
              <a:rPr lang="en-US">
                <a:ea typeface="+mn-lt"/>
                <a:cs typeface="+mn-lt"/>
              </a:rPr>
              <a:t> &lt;= 0;</a:t>
            </a:r>
          </a:p>
          <a:p>
            <a:r>
              <a:rPr lang="en-US" sz="1700">
                <a:ea typeface="Calibri"/>
                <a:cs typeface="Calibri"/>
              </a:rPr>
              <a:t>end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590A2-7454-032C-6DD1-04412E94B9F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94323" y="1708478"/>
            <a:ext cx="3628799" cy="41371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else if (alarm) begin  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    </a:t>
            </a:r>
            <a:r>
              <a:rPr lang="en-US" err="1">
                <a:ea typeface="+mn-lt"/>
                <a:cs typeface="+mn-lt"/>
              </a:rPr>
              <a:t>alarm_latch</a:t>
            </a:r>
            <a:r>
              <a:rPr lang="en-US">
                <a:ea typeface="+mn-lt"/>
                <a:cs typeface="+mn-lt"/>
              </a:rPr>
              <a:t> &lt;= 1;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</a:t>
            </a:r>
            <a:r>
              <a:rPr lang="en-US" err="1">
                <a:ea typeface="+mn-lt"/>
                <a:cs typeface="+mn-lt"/>
              </a:rPr>
              <a:t>alarm_timer</a:t>
            </a:r>
            <a:r>
              <a:rPr lang="en-US">
                <a:ea typeface="+mn-lt"/>
                <a:cs typeface="+mn-lt"/>
              </a:rPr>
              <a:t> &lt;= 20;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else if (</a:t>
            </a:r>
            <a:r>
              <a:rPr lang="en-US" err="1">
                <a:ea typeface="+mn-lt"/>
                <a:cs typeface="+mn-lt"/>
              </a:rPr>
              <a:t>alarm_latch</a:t>
            </a:r>
            <a:r>
              <a:rPr lang="en-US">
                <a:ea typeface="+mn-lt"/>
                <a:cs typeface="+mn-lt"/>
              </a:rPr>
              <a:t> &amp;&amp; tick1) begin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if (</a:t>
            </a:r>
            <a:r>
              <a:rPr lang="en-US" err="1">
                <a:ea typeface="+mn-lt"/>
                <a:cs typeface="+mn-lt"/>
              </a:rPr>
              <a:t>alarm_timer</a:t>
            </a:r>
            <a:r>
              <a:rPr lang="en-US">
                <a:ea typeface="+mn-lt"/>
                <a:cs typeface="+mn-lt"/>
              </a:rPr>
              <a:t> &gt; 0)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</a:t>
            </a:r>
            <a:r>
              <a:rPr lang="en-US" err="1">
                <a:ea typeface="+mn-lt"/>
                <a:cs typeface="+mn-lt"/>
              </a:rPr>
              <a:t>alarm_timer</a:t>
            </a:r>
            <a:r>
              <a:rPr lang="en-US">
                <a:ea typeface="+mn-lt"/>
                <a:cs typeface="+mn-lt"/>
              </a:rPr>
              <a:t> &lt;= </a:t>
            </a:r>
            <a:r>
              <a:rPr lang="en-US" err="1">
                <a:ea typeface="+mn-lt"/>
                <a:cs typeface="+mn-lt"/>
              </a:rPr>
              <a:t>alarm_timer</a:t>
            </a:r>
            <a:r>
              <a:rPr lang="en-US">
                <a:ea typeface="+mn-lt"/>
                <a:cs typeface="+mn-lt"/>
              </a:rPr>
              <a:t> -1;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else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 </a:t>
            </a:r>
            <a:r>
              <a:rPr lang="en-US" err="1">
                <a:ea typeface="+mn-lt"/>
                <a:cs typeface="+mn-lt"/>
              </a:rPr>
              <a:t>alarm_latch</a:t>
            </a:r>
            <a:r>
              <a:rPr lang="en-US">
                <a:ea typeface="+mn-lt"/>
                <a:cs typeface="+mn-lt"/>
              </a:rPr>
              <a:t> &lt;= 0;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end</a:t>
            </a:r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DD1FC48-304B-3CA7-B335-A6CC2ED7E967}"/>
              </a:ext>
            </a:extLst>
          </p:cNvPr>
          <p:cNvSpPr>
            <a:spLocks noGrp="1"/>
          </p:cNvSpPr>
          <p:nvPr/>
        </p:nvSpPr>
        <p:spPr>
          <a:xfrm>
            <a:off x="493142" y="1708479"/>
            <a:ext cx="3788721" cy="4137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ea typeface="+mn-lt"/>
                <a:cs typeface="+mn-lt"/>
              </a:rPr>
              <a:t>wire alarm;</a:t>
            </a:r>
          </a:p>
          <a:p>
            <a:r>
              <a:rPr lang="en-US">
                <a:ea typeface="+mn-lt"/>
                <a:cs typeface="+mn-lt"/>
              </a:rPr>
              <a:t>assign alarm =</a:t>
            </a:r>
          </a:p>
          <a:p>
            <a:r>
              <a:rPr lang="en-US">
                <a:ea typeface="+mn-lt"/>
                <a:cs typeface="+mn-lt"/>
              </a:rPr>
              <a:t>    (dec5_Q == AlarmDec5_Q) &amp;&amp;</a:t>
            </a:r>
          </a:p>
          <a:p>
            <a:r>
              <a:rPr lang="en-US">
                <a:ea typeface="+mn-lt"/>
                <a:cs typeface="+mn-lt"/>
              </a:rPr>
              <a:t>    (dec4_Q == AlarmDec4_Q) &amp;&amp;</a:t>
            </a:r>
          </a:p>
          <a:p>
            <a:r>
              <a:rPr lang="en-US">
                <a:ea typeface="+mn-lt"/>
                <a:cs typeface="+mn-lt"/>
              </a:rPr>
              <a:t>    (dec3_Q == AlarmDec3_Q) &amp;&amp;</a:t>
            </a:r>
          </a:p>
          <a:p>
            <a:r>
              <a:rPr lang="en-US">
                <a:ea typeface="+mn-lt"/>
                <a:cs typeface="+mn-lt"/>
              </a:rPr>
              <a:t>    (dec2_Q == AlarmDec2_Q) &amp;&amp;</a:t>
            </a:r>
          </a:p>
          <a:p>
            <a:r>
              <a:rPr lang="en-US">
                <a:ea typeface="+mn-lt"/>
                <a:cs typeface="+mn-lt"/>
              </a:rPr>
              <a:t>     (dec1_Q == AlarmDec1_Q) &amp;&amp;</a:t>
            </a:r>
          </a:p>
          <a:p>
            <a:r>
              <a:rPr lang="en-US">
                <a:ea typeface="+mn-lt"/>
                <a:cs typeface="+mn-lt"/>
              </a:rPr>
              <a:t>    (dec0_Q == AlarmDec0_Q);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8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FFF2E-950D-61D8-58B3-9047CAB9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Team Contributions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5DF07-48C8-29BF-D4D4-6E46214ECC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2012686"/>
            <a:ext cx="5273251" cy="41492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err="1">
                <a:ea typeface="Calibri"/>
                <a:cs typeface="Calibri"/>
              </a:rPr>
              <a:t>Sidky</a:t>
            </a:r>
            <a:r>
              <a:rPr lang="en-US" b="1">
                <a:ea typeface="Calibri"/>
                <a:cs typeface="Calibri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Designed the tick counter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Created the ability to set the clock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Design the code for the 7-segment display</a:t>
            </a:r>
          </a:p>
          <a:p>
            <a:pPr marL="0" indent="0">
              <a:buNone/>
            </a:pPr>
            <a:r>
              <a:rPr lang="en-US" b="1">
                <a:ea typeface="Calibri"/>
                <a:cs typeface="Calibri"/>
              </a:rPr>
              <a:t>Matthew: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Set up the alarm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Set up the alarm latch to deactivate alarm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Created the code to deliver the time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13DF34B-A614-9E3B-A3FB-0084D70D12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8231271"/>
              </p:ext>
            </p:extLst>
          </p:nvPr>
        </p:nvGraphicFramePr>
        <p:xfrm>
          <a:off x="5829905" y="2008868"/>
          <a:ext cx="60960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5587897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2A2379-DD35-4769-BFD6-4857D72F808A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5C2645A-E767-4D7E-984D-234E531E4556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{7E43832E-D092-4A33-ABCA-417679AE787B}TFb73f27a7-0404-48d9-96f8-0ca8d35477ec68e4afe9_win32-7b62b493978d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Custom</vt:lpstr>
      <vt:lpstr>FPGA Alarm Project</vt:lpstr>
      <vt:lpstr>Alarm Clock Summary</vt:lpstr>
      <vt:lpstr>Critical Variables</vt:lpstr>
      <vt:lpstr>The Alarm</vt:lpstr>
      <vt:lpstr>Clock Logic</vt:lpstr>
      <vt:lpstr>Alarm Code</vt:lpstr>
      <vt:lpstr>Team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McGary, Matthew</dc:creator>
  <cp:revision>2</cp:revision>
  <dcterms:created xsi:type="dcterms:W3CDTF">2025-12-03T17:44:34Z</dcterms:created>
  <dcterms:modified xsi:type="dcterms:W3CDTF">2025-12-30T07:14:11Z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